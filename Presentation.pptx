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8" r:id="rId5"/>
    <p:sldId id="259" r:id="rId6"/>
    <p:sldId id="285" r:id="rId7"/>
    <p:sldId id="261" r:id="rId8"/>
    <p:sldId id="262" r:id="rId9"/>
    <p:sldId id="263" r:id="rId10"/>
    <p:sldId id="264" r:id="rId11"/>
    <p:sldId id="279" r:id="rId12"/>
    <p:sldId id="265" r:id="rId13"/>
    <p:sldId id="280" r:id="rId14"/>
    <p:sldId id="266" r:id="rId15"/>
    <p:sldId id="267" r:id="rId16"/>
    <p:sldId id="281" r:id="rId17"/>
    <p:sldId id="268" r:id="rId18"/>
    <p:sldId id="269" r:id="rId19"/>
    <p:sldId id="282" r:id="rId20"/>
    <p:sldId id="270" r:id="rId21"/>
    <p:sldId id="271" r:id="rId22"/>
    <p:sldId id="283" r:id="rId23"/>
    <p:sldId id="272" r:id="rId24"/>
    <p:sldId id="273" r:id="rId25"/>
    <p:sldId id="284" r:id="rId26"/>
    <p:sldId id="274" r:id="rId27"/>
    <p:sldId id="275" r:id="rId28"/>
    <p:sldId id="276" r:id="rId29"/>
    <p:sldId id="27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5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6D48E-4846-D076-C269-C84EF67FD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1C71FE-1CEE-DE8A-9266-40DA2217A7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D948B-C2B0-C28C-F605-3547960CE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EF448-124E-47FC-9D3D-0AFDB98D71F5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56138-7573-8483-E5E3-7B6626826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06DEB-0AE2-5A4A-116D-056176A97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1960-7B16-4EEB-95B4-84772978B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618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8DC9C-3EAF-1EAC-728B-832471757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DC8CC-040A-E878-EC13-B7B3FB277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D3906-2DAD-E773-D1EE-048C7CF4C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EF448-124E-47FC-9D3D-0AFDB98D71F5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15056-F608-C6E9-E252-1A6473CA6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EB542-88D6-FFFD-1D18-08F82A827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1960-7B16-4EEB-95B4-84772978B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547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70F6C-11CD-70E5-96AB-B5DFFE438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2FD91-0E77-96AA-9986-311087835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242B6-C350-9139-F50A-FC2F3F79F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EF448-124E-47FC-9D3D-0AFDB98D71F5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2278E-5927-039D-D7E2-8547D0E1B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68FE6-66BF-B979-BB55-8852C50AE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1960-7B16-4EEB-95B4-84772978B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98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C06B0-91C3-9CB6-5167-CDC981400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A7185-C798-C8EF-E50A-D91656FDA5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E304C3-ADD8-07B9-869C-BBD738ED4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797CD-C98A-3DE7-A3CF-B466DE03A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EF448-124E-47FC-9D3D-0AFDB98D71F5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8838C-43C2-A90E-D07E-ED26455BA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E7F29F-7085-D242-4ADA-FE0DD5FE5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1960-7B16-4EEB-95B4-84772978B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898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7EE66-771E-AA7C-2E43-86F704AC6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134B6-5CDC-1E4E-8AFC-5E0FD7C05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543CD3-05E1-FEB2-9658-887CD2B98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E7E2B6-E595-6827-6F00-CC18DCC636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ABC322-6A5C-57CE-F9CD-4919338A5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191E02-5D73-A93E-A308-5DEF4AE76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EF448-124E-47FC-9D3D-0AFDB98D71F5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3692D2-E0C2-DA95-E194-EC64600C4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8269BD-FE6B-EE52-DEC8-AF65D808B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1960-7B16-4EEB-95B4-84772978B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904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2F9D2-A8CA-5065-994F-6B2DA5AAB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219B6B-2FA1-CDCC-0CEE-079F2E62E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EF448-124E-47FC-9D3D-0AFDB98D71F5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FE8FBE-818E-081F-B041-0F3B3DDD2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38627-F254-4A40-A7E8-513FA52E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1960-7B16-4EEB-95B4-84772978B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862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014982-7D45-5F3B-EE03-A4002EC84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EF448-124E-47FC-9D3D-0AFDB98D71F5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003D8B-A54B-3D8D-E362-5D4E20115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74A6E-477F-A74D-B1FA-760DA791C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1960-7B16-4EEB-95B4-84772978B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861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6CA64-6EDA-E1F8-9003-7C6F52033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263B2-9745-C17F-1BB7-A0A46732C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115528-8AFE-A576-3064-7BAF5EACA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B974E3-3FE0-4EB8-468E-CEE792647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EF448-124E-47FC-9D3D-0AFDB98D71F5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F57B8B-4EC2-53E0-9581-98F7C37B0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9FE0FD-97FA-9C32-07EC-5B5E1526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1960-7B16-4EEB-95B4-84772978B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207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A272A-6E5A-FF2F-3456-FCF48B8C0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DAB2F4-5A83-3B46-8544-AA50A7625A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3899B-CD59-E38B-0EFE-7EC17233D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00EC1-5518-1BA5-05F4-6862E5387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EF448-124E-47FC-9D3D-0AFDB98D71F5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2BACF0-6887-36E1-6ADA-FEC066CE7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B962E6-C864-3CD8-F54F-7F2AD79D3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1960-7B16-4EEB-95B4-84772978B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950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1171D-3833-6B8B-0BD4-11880E713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727EE3-4316-29AF-935F-8F7C145C1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061CC-83E7-EBCB-4A1A-1D11321BD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EF448-124E-47FC-9D3D-0AFDB98D71F5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2E566-2AD4-FE5A-7374-49DF98CEB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0AD0F-AABC-8135-10B5-2A94C5535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1960-7B16-4EEB-95B4-84772978B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576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8390C3-8A02-BBFD-811E-FC7827F794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EC0092-FF65-4D43-1822-BD38E9D9E4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E8A7F-3C1C-AF7A-BBD8-CFB795690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EF448-124E-47FC-9D3D-0AFDB98D71F5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C8B9D-2D25-26D1-213D-1F9F8A355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435EE-3468-630F-41C5-A79AC0DC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F11960-7B16-4EEB-95B4-84772978B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916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605CD8-C7DB-B166-6F20-8FAEBBEEB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76906-033A-5ED4-159E-9040882CA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56E9E-F56C-A388-47AB-C05D45E510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3EF448-124E-47FC-9D3D-0AFDB98D71F5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7B86D-9D64-B099-56E5-FF1690F6E1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E07F4-8D3F-EA5D-CD44-937CA1B760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11960-7B16-4EEB-95B4-84772978B6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004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35021093" TargetMode="External"/><Relationship Id="rId7" Type="http://schemas.openxmlformats.org/officeDocument/2006/relationships/hyperlink" Target="http://jmlr.org/papers/v12/pedregosa11a.html" TargetMode="External"/><Relationship Id="rId2" Type="http://schemas.openxmlformats.org/officeDocument/2006/relationships/hyperlink" Target="https://www.science.org/doi/10.1126/science.286.5439.53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cbi.nlm.nih.gov/geo/query/acc.cgi?acc=GSE9476" TargetMode="External"/><Relationship Id="rId5" Type="http://schemas.openxmlformats.org/officeDocument/2006/relationships/hyperlink" Target="https://www.ncbi.nlm.nih.gov/geo/query/acc.cgi?acc=GSE50161" TargetMode="External"/><Relationship Id="rId4" Type="http://schemas.openxmlformats.org/officeDocument/2006/relationships/hyperlink" Target="https://www.ncbi.nlm.nih.gov/geo/query/acc.cgi?acc=GSE45827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78CEB9-AB6E-146B-9044-4F0C2F32A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450" y="4994277"/>
            <a:ext cx="9144000" cy="1655762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Computer Science and Engineering</a:t>
            </a:r>
          </a:p>
          <a:p>
            <a:r>
              <a:rPr lang="en-US" sz="2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NATIONAL INSTITUTE OF TECHNOLOGY, HAMIRPUR</a:t>
            </a:r>
          </a:p>
          <a:p>
            <a:r>
              <a:rPr lang="en-US" sz="2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Distt. Hamirpur, Himachal Pradesh - 177005</a:t>
            </a:r>
          </a:p>
          <a:p>
            <a:endParaRPr lang="en-IN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D25E8BF9-3D0A-F863-4F64-C4455C440371}"/>
              </a:ext>
            </a:extLst>
          </p:cNvPr>
          <p:cNvSpPr/>
          <p:nvPr/>
        </p:nvSpPr>
        <p:spPr>
          <a:xfrm>
            <a:off x="5183537" y="3300413"/>
            <a:ext cx="1659825" cy="1600200"/>
          </a:xfrm>
          <a:custGeom>
            <a:avLst/>
            <a:gdLst/>
            <a:ahLst/>
            <a:cxnLst/>
            <a:rect l="l" t="t" r="r" b="b"/>
            <a:pathLst>
              <a:path w="2655791" h="2607504">
                <a:moveTo>
                  <a:pt x="0" y="0"/>
                </a:moveTo>
                <a:lnTo>
                  <a:pt x="2655792" y="0"/>
                </a:lnTo>
                <a:lnTo>
                  <a:pt x="2655792" y="2607505"/>
                </a:lnTo>
                <a:lnTo>
                  <a:pt x="0" y="26075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C030EAE-54D7-C6C4-95B6-F6F07478E5CD}"/>
              </a:ext>
            </a:extLst>
          </p:cNvPr>
          <p:cNvSpPr txBox="1">
            <a:spLocks/>
          </p:cNvSpPr>
          <p:nvPr/>
        </p:nvSpPr>
        <p:spPr>
          <a:xfrm>
            <a:off x="558800" y="301626"/>
            <a:ext cx="109093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/>
              <a:t>Clustering-Based Gene Expression Analysis for Disease Subtype Discovery </a:t>
            </a:r>
            <a:endParaRPr lang="en-IN" sz="4000" dirty="0"/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E11A83DA-EE51-C876-A3AC-8B0C6B11A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3649" y="1695449"/>
            <a:ext cx="9144000" cy="1258887"/>
          </a:xfrm>
        </p:spPr>
        <p:txBody>
          <a:bodyPr>
            <a:normAutofit/>
          </a:bodyPr>
          <a:lstStyle/>
          <a:p>
            <a:r>
              <a:rPr lang="en-US" sz="3200" dirty="0"/>
              <a:t>Presented by: Krishna Singh(22DCS011)</a:t>
            </a:r>
            <a:br>
              <a:rPr lang="en-US" sz="3200" dirty="0"/>
            </a:br>
            <a:r>
              <a:rPr lang="en-US" sz="3200" dirty="0"/>
              <a:t>Presented to: Dr. Kamlesh Dutta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977371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8C0D-B70E-9CC8-283E-2C49D198F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Table of Contents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208D8-F186-32D9-75EC-9EE36B5A0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01489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Introduction:</a:t>
            </a:r>
            <a:r>
              <a:rPr lang="en-US" dirty="0"/>
              <a:t> The Problem of Disease Subtyping</a:t>
            </a:r>
          </a:p>
          <a:p>
            <a:r>
              <a:rPr lang="en-US" b="1" dirty="0"/>
              <a:t>Literature Review:</a:t>
            </a:r>
            <a:r>
              <a:rPr lang="en-US" dirty="0"/>
              <a:t> Current State-of-the-Art</a:t>
            </a:r>
          </a:p>
          <a:p>
            <a:r>
              <a:rPr lang="en-US" b="1" dirty="0"/>
              <a:t>Methodology:</a:t>
            </a:r>
            <a:r>
              <a:rPr lang="en-US" dirty="0"/>
              <a:t> Our Project Work Flow</a:t>
            </a:r>
          </a:p>
          <a:p>
            <a:r>
              <a:rPr lang="en-US" b="1" dirty="0"/>
              <a:t>Datasets Used:</a:t>
            </a:r>
            <a:r>
              <a:rPr lang="en-US" dirty="0"/>
              <a:t> The Gene Expression Data</a:t>
            </a:r>
          </a:p>
          <a:p>
            <a:r>
              <a:rPr lang="en-US" b="1" dirty="0"/>
              <a:t>Data Preprocessing:</a:t>
            </a:r>
            <a:r>
              <a:rPr lang="en-US" dirty="0"/>
              <a:t> Standardization</a:t>
            </a:r>
          </a:p>
          <a:p>
            <a:r>
              <a:rPr lang="en-US" b="1" dirty="0"/>
              <a:t>Dimensionality Reduction:</a:t>
            </a:r>
            <a:r>
              <a:rPr lang="en-US" dirty="0"/>
              <a:t> Using PCA</a:t>
            </a:r>
          </a:p>
          <a:p>
            <a:r>
              <a:rPr lang="en-US" b="1" dirty="0"/>
              <a:t>Clustering Algorithms:</a:t>
            </a:r>
            <a:r>
              <a:rPr lang="en-US" dirty="0"/>
              <a:t> The Four Methods</a:t>
            </a:r>
          </a:p>
          <a:p>
            <a:r>
              <a:rPr lang="en-US" b="1" dirty="0"/>
              <a:t>Evaluation Metrics:</a:t>
            </a:r>
            <a:r>
              <a:rPr lang="en-US" dirty="0"/>
              <a:t> How We Measure Performance</a:t>
            </a:r>
          </a:p>
          <a:p>
            <a:r>
              <a:rPr lang="en-US" b="1" dirty="0"/>
              <a:t>Results &amp; Analysis:</a:t>
            </a:r>
            <a:r>
              <a:rPr lang="en-US" dirty="0"/>
              <a:t> Per-Dataset Breakdown</a:t>
            </a:r>
          </a:p>
          <a:p>
            <a:r>
              <a:rPr lang="en-US" b="1" dirty="0"/>
              <a:t>Conclusions &amp; Future Directions</a:t>
            </a:r>
            <a:endParaRPr lang="en-US" dirty="0"/>
          </a:p>
          <a:p>
            <a:r>
              <a:rPr lang="en-US" b="1" dirty="0"/>
              <a:t>References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3202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62DF4-1F1C-4195-9E35-A1292D8D8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068387"/>
            <a:ext cx="10515600" cy="863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 The Problem</a:t>
            </a:r>
            <a:br>
              <a:rPr lang="en-US" b="1" dirty="0"/>
            </a:b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56D79-021C-BC31-A822-EF2684565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Many complex diseases, like cancer, are not single, uniform entities.</a:t>
            </a:r>
          </a:p>
          <a:p>
            <a:r>
              <a:rPr lang="en-US" dirty="0"/>
              <a:t>They are highly </a:t>
            </a:r>
            <a:r>
              <a:rPr lang="en-US" b="1" dirty="0"/>
              <a:t>heterogeneous</a:t>
            </a:r>
            <a:r>
              <a:rPr lang="en-US" dirty="0"/>
              <a:t>, consisting of many distinct molecular subtypes.</a:t>
            </a:r>
          </a:p>
          <a:p>
            <a:r>
              <a:rPr lang="en-US" dirty="0"/>
              <a:t>A "one-size-fits-all" treatment approach often fails because it doesn't account for this biological diversity.</a:t>
            </a:r>
          </a:p>
          <a:p>
            <a:r>
              <a:rPr lang="en-US" dirty="0"/>
              <a:t>Discovering these subtypes is critical for developing targeted therapies and personalized medicine.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5475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6DC72-0446-9337-6BF6-DD50CF1C9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84955-334E-E73C-5ADD-FE160C350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Goal:</a:t>
            </a:r>
            <a:r>
              <a:rPr lang="en-US" dirty="0"/>
              <a:t> To use unsupervised machine learning to analyze high-dimensional gene expression data.</a:t>
            </a:r>
          </a:p>
          <a:p>
            <a:r>
              <a:rPr lang="en-US" b="1" dirty="0"/>
              <a:t>Method:</a:t>
            </a:r>
            <a:r>
              <a:rPr lang="en-US" dirty="0"/>
              <a:t> We apply and compare four different clustering algorithms to partition patients into distinct groups based on their gene activity.</a:t>
            </a:r>
          </a:p>
          <a:p>
            <a:r>
              <a:rPr lang="en-US" b="1" dirty="0"/>
              <a:t>Validation:</a:t>
            </a:r>
            <a:r>
              <a:rPr lang="en-US" dirty="0"/>
              <a:t> We then validate these data-driven clusters against the known clinical subtypes (ground truth) to measure algorithm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05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1A3DC-85D6-7895-60F9-6765291EC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Literature Review: Foundational papers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E813F53-28EE-51D7-075B-8FF0F606B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466900"/>
              </p:ext>
            </p:extLst>
          </p:nvPr>
        </p:nvGraphicFramePr>
        <p:xfrm>
          <a:off x="838200" y="2197894"/>
          <a:ext cx="10515600" cy="3352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58634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2638890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608439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Aspect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Paper 1: Golub et al. (1999) [1]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Paper 2: Perou et al. (2000) [2]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809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Study Type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Unsupervised Class Discovery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Unsupervised Subtype Discovery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855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Data Source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38 Leukemia samples (ALL vs. AML)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65 Breast Tumor samples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832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Algorithm Used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Self-Organizing Maps (SOMs)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Hierarchical Clustering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667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Visualization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Cluster Heatmaps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Dendrogram &amp; Heatmap ("Molecular Portrait")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097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Key Contribution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Proved</a:t>
                      </a: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that gene expression clustering could discover and classify cancer </a:t>
                      </a:r>
                      <a:r>
                        <a:rPr lang="en-US" i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without</a:t>
                      </a:r>
                      <a:r>
                        <a:rPr lang="en-US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prior knowledge.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Discovered</a:t>
                      </a: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the "intrinsic" breast cancer subtypes (Luminal, Basal, HER2-E) still used in clinics today.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573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08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9E773-ACC4-E675-E50F-178C50A01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Literature Review: Recent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B71611-C989-B886-02EA-0E4830D8D0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3486851"/>
              </p:ext>
            </p:extLst>
          </p:nvPr>
        </p:nvGraphicFramePr>
        <p:xfrm>
          <a:off x="838200" y="1973525"/>
          <a:ext cx="10515600" cy="3499718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62046926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2812587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38726351"/>
                    </a:ext>
                  </a:extLst>
                </a:gridCol>
              </a:tblGrid>
              <a:tr h="48680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Aspect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Paper 1: MOGONET (2021)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Paper 2: </a:t>
                      </a:r>
                      <a:r>
                        <a:rPr lang="en-IN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BayesSpace</a:t>
                      </a: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(2021)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600705"/>
                  </a:ext>
                </a:extLst>
              </a:tr>
              <a:tr h="48680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Study Type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Multi-Omics Integration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Spatial Transcriptomics Clustering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6354416"/>
                  </a:ext>
                </a:extLst>
              </a:tr>
              <a:tr h="84203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Data Source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TCGA (RNA-seq, Methylation)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10x Visium (Gene Expression + (x,y) Coords)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243418"/>
                  </a:ext>
                </a:extLst>
              </a:tr>
              <a:tr h="48680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Algorithm Used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Graph Convolutional Network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Bayesian Markov Random Field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0342376"/>
                  </a:ext>
                </a:extLst>
              </a:tr>
              <a:tr h="119727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Key Contribution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Integrates multiple data types (multi-omics) for a more robust and accurate patient classification.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Creates "spatially-aware" clusters, identifying cellular neighborhoods that respect the tissue's anatomy.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734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9225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5EFDE-DF0E-B1EB-4CB2-0E9FBE875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946" y="111953"/>
            <a:ext cx="10515600" cy="1325563"/>
          </a:xfrm>
        </p:spPr>
        <p:txBody>
          <a:bodyPr/>
          <a:lstStyle/>
          <a:p>
            <a:r>
              <a:rPr lang="en-IN" b="1" dirty="0"/>
              <a:t>Project Work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107BF-6F92-08A6-246E-BCD6CF242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3984" y="3726530"/>
            <a:ext cx="10515600" cy="3019517"/>
          </a:xfrm>
        </p:spPr>
        <p:txBody>
          <a:bodyPr>
            <a:normAutofit fontScale="92500"/>
          </a:bodyPr>
          <a:lstStyle/>
          <a:p>
            <a:r>
              <a:rPr lang="en-IN" b="1" dirty="0"/>
              <a:t>Data Collection</a:t>
            </a:r>
            <a:r>
              <a:rPr lang="en-IN" dirty="0"/>
              <a:t> (Load .csv files)</a:t>
            </a:r>
          </a:p>
          <a:p>
            <a:r>
              <a:rPr lang="en-IN" b="1" dirty="0"/>
              <a:t>Data Preprocessing</a:t>
            </a:r>
            <a:r>
              <a:rPr lang="en-IN" dirty="0"/>
              <a:t> (Feature/Label split, </a:t>
            </a:r>
            <a:r>
              <a:rPr lang="en-IN" dirty="0" err="1"/>
              <a:t>StandardScaler</a:t>
            </a:r>
            <a:r>
              <a:rPr lang="en-IN" dirty="0"/>
              <a:t>)</a:t>
            </a:r>
          </a:p>
          <a:p>
            <a:r>
              <a:rPr lang="en-IN" b="1" dirty="0"/>
              <a:t>Dimensionality Reduction</a:t>
            </a:r>
            <a:r>
              <a:rPr lang="en-IN" dirty="0"/>
              <a:t> (PCA for noise reduction, PCA for visualization)</a:t>
            </a:r>
          </a:p>
          <a:p>
            <a:r>
              <a:rPr lang="en-IN" b="1" dirty="0"/>
              <a:t>Clustering Algorithms</a:t>
            </a:r>
            <a:r>
              <a:rPr lang="en-IN" dirty="0"/>
              <a:t> (K-Means, Hierarchical, Spectral, GMM)</a:t>
            </a:r>
          </a:p>
          <a:p>
            <a:r>
              <a:rPr lang="en-IN" b="1" dirty="0"/>
              <a:t>Evaluation</a:t>
            </a:r>
            <a:r>
              <a:rPr lang="en-IN" dirty="0"/>
              <a:t> (Compute 7 External &amp; Internal metrics)</a:t>
            </a:r>
          </a:p>
          <a:p>
            <a:r>
              <a:rPr lang="en-IN" b="1" dirty="0"/>
              <a:t>Analysis</a:t>
            </a:r>
            <a:r>
              <a:rPr lang="en-IN" dirty="0"/>
              <a:t> (Compare metrics, visualize clusters)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E29F86-2A73-FEFF-1D06-820970A32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800" y="1437516"/>
            <a:ext cx="7225483" cy="203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592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932DC-96D1-7434-A1D5-ABF40BA2E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Hardware &amp; Software Requirements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232E63-0352-66A7-E88E-9FF06DA7F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795334"/>
              </p:ext>
            </p:extLst>
          </p:nvPr>
        </p:nvGraphicFramePr>
        <p:xfrm>
          <a:off x="890827" y="2151443"/>
          <a:ext cx="10515600" cy="32918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08948054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4514651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711327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Category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Tool / Specification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Purpose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301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Language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Python 3.9+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Core language for modeling.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531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Data Handling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pandas, numpy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Data loading, wrangling, and numerical operations.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158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ML Library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scikit-learn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Implements all clustering, PCA, Scaling, and Metrics.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595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Plotting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matplotlib, seaborn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Generates 2D PCA plots and metric charts.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560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Helper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scipy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Used for linkage in the Hierarchical dendrogram.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697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7683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78B05-F6EC-0D03-E1F0-C1F6D71B8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50" y="201237"/>
            <a:ext cx="10515600" cy="1325563"/>
          </a:xfrm>
        </p:spPr>
        <p:txBody>
          <a:bodyPr/>
          <a:lstStyle/>
          <a:p>
            <a:r>
              <a:rPr lang="en-IN" b="1" dirty="0"/>
              <a:t>Datasets Used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A78453B-09A8-E74F-0235-ACB453D33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133064"/>
              </p:ext>
            </p:extLst>
          </p:nvPr>
        </p:nvGraphicFramePr>
        <p:xfrm>
          <a:off x="501650" y="1466850"/>
          <a:ext cx="11410950" cy="4756487"/>
        </p:xfrm>
        <a:graphic>
          <a:graphicData uri="http://schemas.openxmlformats.org/drawingml/2006/table">
            <a:tbl>
              <a:tblPr/>
              <a:tblGrid>
                <a:gridCol w="2282190">
                  <a:extLst>
                    <a:ext uri="{9D8B030D-6E8A-4147-A177-3AD203B41FA5}">
                      <a16:colId xmlns:a16="http://schemas.microsoft.com/office/drawing/2014/main" val="537115388"/>
                    </a:ext>
                  </a:extLst>
                </a:gridCol>
                <a:gridCol w="2282190">
                  <a:extLst>
                    <a:ext uri="{9D8B030D-6E8A-4147-A177-3AD203B41FA5}">
                      <a16:colId xmlns:a16="http://schemas.microsoft.com/office/drawing/2014/main" val="2895235115"/>
                    </a:ext>
                  </a:extLst>
                </a:gridCol>
                <a:gridCol w="2282190">
                  <a:extLst>
                    <a:ext uri="{9D8B030D-6E8A-4147-A177-3AD203B41FA5}">
                      <a16:colId xmlns:a16="http://schemas.microsoft.com/office/drawing/2014/main" val="1522537806"/>
                    </a:ext>
                  </a:extLst>
                </a:gridCol>
                <a:gridCol w="2282190">
                  <a:extLst>
                    <a:ext uri="{9D8B030D-6E8A-4147-A177-3AD203B41FA5}">
                      <a16:colId xmlns:a16="http://schemas.microsoft.com/office/drawing/2014/main" val="123747921"/>
                    </a:ext>
                  </a:extLst>
                </a:gridCol>
                <a:gridCol w="2282190">
                  <a:extLst>
                    <a:ext uri="{9D8B030D-6E8A-4147-A177-3AD203B41FA5}">
                      <a16:colId xmlns:a16="http://schemas.microsoft.com/office/drawing/2014/main" val="1072953983"/>
                    </a:ext>
                  </a:extLst>
                </a:gridCol>
              </a:tblGrid>
              <a:tr h="749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GEO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Ground Truth ('type')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Source (Link)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541791"/>
                  </a:ext>
                </a:extLst>
              </a:tr>
              <a:tr h="1271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Leukemia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GSE9476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Patient gene expression for leukemia.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Multiple leukemia subtypes (ALL, AML, etc.)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https://www.kaggle.com/datasets/brunogrisci/leukemia-gene-expression-cumida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430674"/>
                  </a:ext>
                </a:extLst>
              </a:tr>
              <a:tr h="1271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Brain Cancer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GSE50161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Gene expression from brain tumors.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Tumor subtypes and grades (Astrocytoma, etc.)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https://www.kaggle.com/datasets/brunogrisci/brain-cancer-gene-expression-cumida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587953"/>
                  </a:ext>
                </a:extLst>
              </a:tr>
              <a:tr h="1271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Breast Cancer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GSE45827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Gene expression from breast cancer.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Known clinical subtypes (Luminal A, Basal-like)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https://www.kaggle.com/datasets/brunogrisci/breast-cancer-gene-expression-cumida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914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0926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ABDBE-602A-7380-1E59-D059F3C6A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Preprocessing: Step 1 - Feature-Label Split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A6CD2-BE72-D67A-51D2-849993261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en-US" dirty="0"/>
              <a:t>The first step is to separate our raw data into two distinct parts:</a:t>
            </a:r>
          </a:p>
          <a:p>
            <a:pPr lvl="1"/>
            <a:r>
              <a:rPr lang="en-US" b="1" dirty="0"/>
              <a:t>Features (X):</a:t>
            </a:r>
            <a:endParaRPr lang="en-US" dirty="0"/>
          </a:p>
          <a:p>
            <a:pPr lvl="2"/>
            <a:r>
              <a:rPr lang="en-US" sz="2400" dirty="0"/>
              <a:t>The thousands of gene expression values.</a:t>
            </a:r>
          </a:p>
          <a:p>
            <a:pPr lvl="2"/>
            <a:r>
              <a:rPr lang="en-US" sz="2400" dirty="0"/>
              <a:t>This is the high-dimensional data we will cluster.</a:t>
            </a:r>
          </a:p>
          <a:p>
            <a:pPr lvl="1"/>
            <a:r>
              <a:rPr lang="en-US" b="1" dirty="0"/>
              <a:t>Labels (y):</a:t>
            </a:r>
            <a:endParaRPr lang="en-US" dirty="0"/>
          </a:p>
          <a:p>
            <a:pPr lvl="2"/>
            <a:r>
              <a:rPr lang="en-US" sz="2400" dirty="0"/>
              <a:t>The single type column.</a:t>
            </a:r>
          </a:p>
          <a:p>
            <a:pPr lvl="2"/>
            <a:r>
              <a:rPr lang="en-US" sz="2400" dirty="0"/>
              <a:t>This is our "ground truth" used </a:t>
            </a:r>
            <a:r>
              <a:rPr lang="en-US" sz="2400" i="1" dirty="0"/>
              <a:t>only</a:t>
            </a:r>
            <a:r>
              <a:rPr lang="en-US" sz="2400" dirty="0"/>
              <a:t> for evaluation at the end.</a:t>
            </a:r>
          </a:p>
        </p:txBody>
      </p:sp>
    </p:spTree>
    <p:extLst>
      <p:ext uri="{BB962C8B-B14F-4D97-AF65-F5344CB8AC3E}">
        <p14:creationId xmlns:p14="http://schemas.microsoft.com/office/powerpoint/2010/main" val="3174596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101D5-6405-1BE2-A5C2-560924881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Preprocessing: Step 2 - Standardization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7667C-F816-46AB-A760-E9EF64682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Problem:</a:t>
            </a:r>
            <a:r>
              <a:rPr lang="en-US" dirty="0"/>
              <a:t> Different genes are expressed at vastly different levels (scales).</a:t>
            </a:r>
          </a:p>
          <a:p>
            <a:r>
              <a:rPr lang="en-US" b="1" dirty="0"/>
              <a:t>Solution:</a:t>
            </a:r>
            <a:r>
              <a:rPr lang="en-US" dirty="0"/>
              <a:t> We apply </a:t>
            </a:r>
            <a:r>
              <a:rPr lang="en-US" dirty="0" err="1"/>
              <a:t>StandardScaler</a:t>
            </a:r>
            <a:r>
              <a:rPr lang="en-US" dirty="0"/>
              <a:t> from scikit-learn to all features (X).</a:t>
            </a:r>
          </a:p>
          <a:p>
            <a:r>
              <a:rPr lang="en-US" b="1" dirty="0"/>
              <a:t>Result:</a:t>
            </a:r>
            <a:r>
              <a:rPr lang="en-US" dirty="0"/>
              <a:t> All gene features are transformed to have a </a:t>
            </a:r>
            <a:r>
              <a:rPr lang="en-US" b="1" dirty="0"/>
              <a:t>mean of 0</a:t>
            </a:r>
            <a:r>
              <a:rPr lang="en-US" dirty="0"/>
              <a:t> and a </a:t>
            </a:r>
            <a:r>
              <a:rPr lang="en-US" b="1" dirty="0"/>
              <a:t>standard deviation of 1</a:t>
            </a:r>
            <a:r>
              <a:rPr lang="en-US" dirty="0"/>
              <a:t>.</a:t>
            </a:r>
          </a:p>
          <a:p>
            <a:r>
              <a:rPr lang="en-US" dirty="0"/>
              <a:t>This step is </a:t>
            </a:r>
            <a:r>
              <a:rPr lang="en-US" b="1" dirty="0"/>
              <a:t>essential</a:t>
            </a:r>
            <a:r>
              <a:rPr lang="en-US" dirty="0"/>
              <a:t> for PCA and K-Means to function correctly.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8043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27EBF-D53F-DBE7-B092-4F34482C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Dimensionality Reduction: For Clustering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9493E-F733-B45D-9C17-3FECB43F7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Purpose:</a:t>
            </a:r>
            <a:r>
              <a:rPr lang="en-US" dirty="0"/>
              <a:t> To reduce noise, prevent overfitting, and speed up computation.</a:t>
            </a:r>
          </a:p>
          <a:p>
            <a:r>
              <a:rPr lang="en-US" b="1" dirty="0"/>
              <a:t>Method:</a:t>
            </a:r>
            <a:r>
              <a:rPr lang="en-US" dirty="0"/>
              <a:t> PCA(</a:t>
            </a:r>
            <a:r>
              <a:rPr lang="en-US" dirty="0" err="1"/>
              <a:t>n_components</a:t>
            </a:r>
            <a:r>
              <a:rPr lang="en-US" dirty="0"/>
              <a:t>=0.90)</a:t>
            </a:r>
          </a:p>
          <a:p>
            <a:r>
              <a:rPr lang="en-US" b="1" dirty="0"/>
              <a:t>Action:</a:t>
            </a:r>
            <a:r>
              <a:rPr lang="en-US" dirty="0"/>
              <a:t> This keeps the minimum number of principal components (e.g., 50-80) that are required to explain </a:t>
            </a:r>
            <a:r>
              <a:rPr lang="en-US" b="1" dirty="0"/>
              <a:t>90% of the data's variance</a:t>
            </a:r>
            <a:r>
              <a:rPr lang="en-US" dirty="0"/>
              <a:t>.</a:t>
            </a:r>
          </a:p>
          <a:p>
            <a:r>
              <a:rPr lang="en-US" dirty="0"/>
              <a:t>This clean, low-dimensional data is the final input for our clustering algorithms.</a:t>
            </a:r>
          </a:p>
        </p:txBody>
      </p:sp>
    </p:spTree>
    <p:extLst>
      <p:ext uri="{BB962C8B-B14F-4D97-AF65-F5344CB8AC3E}">
        <p14:creationId xmlns:p14="http://schemas.microsoft.com/office/powerpoint/2010/main" val="1404576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38568-950A-141D-3349-BB36178B0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459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Dimensionality Reduction: For Visualization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08E73-9A22-AFA9-975F-F028C2D56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Purpose:</a:t>
            </a:r>
            <a:r>
              <a:rPr lang="en-US" dirty="0"/>
              <a:t> To "flatten" the data for 2D scatter plots.</a:t>
            </a:r>
          </a:p>
          <a:p>
            <a:r>
              <a:rPr lang="en-US" b="1" dirty="0"/>
              <a:t>Method:</a:t>
            </a:r>
            <a:r>
              <a:rPr lang="en-US" dirty="0"/>
              <a:t> PCA(</a:t>
            </a:r>
            <a:r>
              <a:rPr lang="en-US" dirty="0" err="1"/>
              <a:t>n_components</a:t>
            </a:r>
            <a:r>
              <a:rPr lang="en-US" dirty="0"/>
              <a:t>=2)</a:t>
            </a:r>
          </a:p>
          <a:p>
            <a:r>
              <a:rPr lang="en-US" b="1" dirty="0"/>
              <a:t>Action:</a:t>
            </a:r>
            <a:r>
              <a:rPr lang="en-US" dirty="0"/>
              <a:t> This aggressively reduces the thousands of gene dimensions down to just </a:t>
            </a:r>
            <a:r>
              <a:rPr lang="en-US" b="1" dirty="0"/>
              <a:t>two</a:t>
            </a:r>
            <a:r>
              <a:rPr lang="en-US" dirty="0"/>
              <a:t> principal components (PC1 and PC2).</a:t>
            </a:r>
          </a:p>
          <a:p>
            <a:r>
              <a:rPr lang="en-US" dirty="0"/>
              <a:t>This allows us to visually inspect how well the clusters are separated in a 2D space.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6029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5CE44-F18E-DEFF-5821-68A66AA83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Clustering Algorithms Used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C960C-73AF-B8B3-82C3-954EDC013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0144"/>
            <a:ext cx="10515600" cy="5085115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K-Means:</a:t>
            </a:r>
            <a:endParaRPr lang="en-IN" dirty="0"/>
          </a:p>
          <a:p>
            <a:pPr lvl="1"/>
            <a:r>
              <a:rPr lang="en-IN" b="1" dirty="0"/>
              <a:t>Type:</a:t>
            </a:r>
            <a:r>
              <a:rPr lang="en-IN" dirty="0"/>
              <a:t> Partitioning</a:t>
            </a:r>
          </a:p>
          <a:p>
            <a:pPr lvl="1"/>
            <a:r>
              <a:rPr lang="en-IN" b="1" dirty="0"/>
              <a:t>Concept:</a:t>
            </a:r>
            <a:r>
              <a:rPr lang="en-IN" dirty="0"/>
              <a:t> Finds centroids and assumes clusters are spherical.</a:t>
            </a:r>
          </a:p>
          <a:p>
            <a:r>
              <a:rPr lang="en-IN" b="1" dirty="0"/>
              <a:t>Hierarchical:</a:t>
            </a:r>
            <a:endParaRPr lang="en-IN" dirty="0"/>
          </a:p>
          <a:p>
            <a:pPr lvl="1"/>
            <a:r>
              <a:rPr lang="en-IN" b="1" dirty="0"/>
              <a:t>Type:</a:t>
            </a:r>
            <a:r>
              <a:rPr lang="en-IN" dirty="0"/>
              <a:t> Agglomerative</a:t>
            </a:r>
          </a:p>
          <a:p>
            <a:pPr lvl="1"/>
            <a:r>
              <a:rPr lang="en-IN" b="1" dirty="0"/>
              <a:t>Concept:</a:t>
            </a:r>
            <a:r>
              <a:rPr lang="en-IN" dirty="0"/>
              <a:t> Builds a tree (dendrogram) to show relationships.</a:t>
            </a:r>
          </a:p>
          <a:p>
            <a:r>
              <a:rPr lang="en-IN" b="1" dirty="0"/>
              <a:t>Spectral:</a:t>
            </a:r>
            <a:endParaRPr lang="en-IN" dirty="0"/>
          </a:p>
          <a:p>
            <a:pPr lvl="1"/>
            <a:r>
              <a:rPr lang="en-IN" b="1" dirty="0"/>
              <a:t>Type:</a:t>
            </a:r>
            <a:r>
              <a:rPr lang="en-IN" dirty="0"/>
              <a:t> Graph-Based</a:t>
            </a:r>
          </a:p>
          <a:p>
            <a:pPr lvl="1"/>
            <a:r>
              <a:rPr lang="en-IN" b="1" dirty="0"/>
              <a:t>Concept:</a:t>
            </a:r>
            <a:r>
              <a:rPr lang="en-IN" dirty="0"/>
              <a:t> Models data as a network; finds complex, non-spherical shapes.</a:t>
            </a:r>
          </a:p>
          <a:p>
            <a:r>
              <a:rPr lang="en-IN" b="1" dirty="0"/>
              <a:t>GMM (Gaussian Mixture Model):</a:t>
            </a:r>
            <a:endParaRPr lang="en-IN" dirty="0"/>
          </a:p>
          <a:p>
            <a:pPr lvl="1"/>
            <a:r>
              <a:rPr lang="en-IN" b="1" dirty="0"/>
              <a:t>Type:</a:t>
            </a:r>
            <a:r>
              <a:rPr lang="en-IN" dirty="0"/>
              <a:t> Probabilistic</a:t>
            </a:r>
          </a:p>
          <a:p>
            <a:pPr lvl="1"/>
            <a:r>
              <a:rPr lang="en-IN" b="1" dirty="0"/>
              <a:t>Concept:</a:t>
            </a:r>
            <a:r>
              <a:rPr lang="en-IN" dirty="0"/>
              <a:t> Assumes data is a mix of flexible "ellipsoids"; an upgrade to K-Means.</a:t>
            </a:r>
          </a:p>
        </p:txBody>
      </p:sp>
    </p:spTree>
    <p:extLst>
      <p:ext uri="{BB962C8B-B14F-4D97-AF65-F5344CB8AC3E}">
        <p14:creationId xmlns:p14="http://schemas.microsoft.com/office/powerpoint/2010/main" val="23587042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C2632-C752-19E4-DF22-D8004ADD7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Evaluation Metrics: External (Supervised)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71E65-56EE-7D66-1C86-7E5126D41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These metrics compare our predicted clusters (</a:t>
            </a:r>
            <a:r>
              <a:rPr lang="en-US" dirty="0" err="1"/>
              <a:t>y_pred</a:t>
            </a:r>
            <a:r>
              <a:rPr lang="en-US" dirty="0"/>
              <a:t>) to the known ground truth labels (</a:t>
            </a:r>
            <a:r>
              <a:rPr lang="en-US" dirty="0" err="1"/>
              <a:t>y_true</a:t>
            </a:r>
            <a:r>
              <a:rPr lang="en-US" dirty="0"/>
              <a:t>).</a:t>
            </a:r>
          </a:p>
          <a:p>
            <a:r>
              <a:rPr lang="en-US" b="1" dirty="0"/>
              <a:t>Adjusted Rand Index (ARI):</a:t>
            </a:r>
            <a:r>
              <a:rPr lang="en-US" dirty="0"/>
              <a:t> Measures similarity, correcting for chance. (Good: 1.0, Random: 0.0)</a:t>
            </a:r>
          </a:p>
          <a:p>
            <a:r>
              <a:rPr lang="en-US" b="1" dirty="0"/>
              <a:t>Homogeneity:</a:t>
            </a:r>
            <a:r>
              <a:rPr lang="en-US" dirty="0"/>
              <a:t> Do clusters contain only members of a single class? (Good: 1.0)</a:t>
            </a:r>
          </a:p>
          <a:p>
            <a:r>
              <a:rPr lang="en-US" b="1" dirty="0"/>
              <a:t>Completeness:</a:t>
            </a:r>
            <a:r>
              <a:rPr lang="en-US" dirty="0"/>
              <a:t> Are all members of a class in the same cluster? (Good: 1.0)</a:t>
            </a:r>
          </a:p>
          <a:p>
            <a:r>
              <a:rPr lang="en-US" b="1" dirty="0"/>
              <a:t>V-Measure:</a:t>
            </a:r>
            <a:r>
              <a:rPr lang="en-US" dirty="0"/>
              <a:t> The harmonic mean of Homogeneity and Completeness. (Good: 1.0)</a:t>
            </a:r>
          </a:p>
          <a:p>
            <a:r>
              <a:rPr lang="en-US" b="1" dirty="0"/>
              <a:t>Fowlkes-Mallows Score (FMS):</a:t>
            </a:r>
            <a:r>
              <a:rPr lang="en-US" dirty="0"/>
              <a:t> Measures similarity. (Good: 1.0)</a:t>
            </a:r>
          </a:p>
        </p:txBody>
      </p:sp>
    </p:spTree>
    <p:extLst>
      <p:ext uri="{BB962C8B-B14F-4D97-AF65-F5344CB8AC3E}">
        <p14:creationId xmlns:p14="http://schemas.microsoft.com/office/powerpoint/2010/main" val="2326620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8FD3-E6F6-5FD8-1BAA-9D7FB281A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Evaluation Metrics: Internal (Unsupervised)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B5C12-0282-C746-76EC-9884E1067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08067"/>
          </a:xfrm>
        </p:spPr>
        <p:txBody>
          <a:bodyPr/>
          <a:lstStyle/>
          <a:p>
            <a:r>
              <a:rPr lang="en-US" dirty="0"/>
              <a:t>These metrics measure cluster quality </a:t>
            </a:r>
            <a:r>
              <a:rPr lang="en-US" i="1" dirty="0"/>
              <a:t>without</a:t>
            </a:r>
            <a:r>
              <a:rPr lang="en-US" dirty="0"/>
              <a:t> using the ground truth labels. They assess cluster "tightness" and "separation".</a:t>
            </a:r>
          </a:p>
          <a:p>
            <a:r>
              <a:rPr lang="en-US" b="1" dirty="0"/>
              <a:t>Silhouette Score:</a:t>
            </a:r>
            <a:endParaRPr lang="en-US" dirty="0"/>
          </a:p>
          <a:p>
            <a:pPr lvl="1"/>
            <a:r>
              <a:rPr lang="en-US" dirty="0"/>
              <a:t>Measures how similar a sample is to its own cluster vs. other clusters.</a:t>
            </a:r>
          </a:p>
          <a:p>
            <a:pPr lvl="1"/>
            <a:r>
              <a:rPr lang="en-US" dirty="0"/>
              <a:t>(Good: +1.0, Bad: -1.0, Overlapping: 0.0)</a:t>
            </a:r>
          </a:p>
          <a:p>
            <a:r>
              <a:rPr lang="en-US" b="1" dirty="0"/>
              <a:t>Davies-Bouldin Score:</a:t>
            </a:r>
            <a:endParaRPr lang="en-US" dirty="0"/>
          </a:p>
          <a:p>
            <a:pPr lvl="1"/>
            <a:r>
              <a:rPr lang="en-US" dirty="0"/>
              <a:t>Measures the average similarity between each cluster and its most similar one.</a:t>
            </a:r>
          </a:p>
          <a:p>
            <a:pPr lvl="1"/>
            <a:r>
              <a:rPr lang="en-US" dirty="0"/>
              <a:t>(Good: 0.0, Bad: Higher values)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2822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EDFBF-9413-05F4-E431-E389B0FB9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760" y="88832"/>
            <a:ext cx="10706922" cy="897932"/>
          </a:xfrm>
        </p:spPr>
        <p:txBody>
          <a:bodyPr>
            <a:normAutofit/>
          </a:bodyPr>
          <a:lstStyle/>
          <a:p>
            <a:r>
              <a:rPr lang="en-IN" sz="4000" b="1" dirty="0"/>
              <a:t>Results: </a:t>
            </a:r>
            <a:r>
              <a:rPr lang="en-IN" sz="4000" b="1" dirty="0" err="1"/>
              <a:t>Leukemia</a:t>
            </a:r>
            <a:r>
              <a:rPr lang="en-IN" sz="4000" b="1" dirty="0"/>
              <a:t> (GSE9476) — Metric Comparison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CC8FE15-51D2-94CF-4183-45F83B45A4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6052" y="940715"/>
            <a:ext cx="8441287" cy="2893987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B842FF0-05BD-4EE6-5B55-4E0DD551AE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272" y="3834702"/>
            <a:ext cx="10189664" cy="285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051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40823-8DBD-7D36-92A2-33194A56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91" y="1"/>
            <a:ext cx="10515600" cy="1223586"/>
          </a:xfrm>
        </p:spPr>
        <p:txBody>
          <a:bodyPr>
            <a:normAutofit/>
          </a:bodyPr>
          <a:lstStyle/>
          <a:p>
            <a:r>
              <a:rPr lang="en-IN" sz="4000" b="1" dirty="0"/>
              <a:t>Analysis: </a:t>
            </a:r>
            <a:r>
              <a:rPr lang="en-IN" sz="4000" b="1" dirty="0" err="1"/>
              <a:t>Leukemia</a:t>
            </a:r>
            <a:r>
              <a:rPr lang="en-IN" sz="4000" b="1" dirty="0"/>
              <a:t> (GSE9476) — Visual PCA</a:t>
            </a:r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4CAF8CC1-68A1-0C55-AA2D-95A2339B61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060" y="1010456"/>
            <a:ext cx="3354796" cy="2862283"/>
          </a:xfr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9AA16E4-3F38-7481-2086-12E419BF21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294" y="1013758"/>
            <a:ext cx="3197309" cy="286228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2E82534-DF3F-9646-0D41-9558582F75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6364" y="959888"/>
            <a:ext cx="3193516" cy="291285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9780F5F-A441-3EBE-38B3-E12974CF3E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354" y="3822061"/>
            <a:ext cx="3193516" cy="297377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DB9CAE6-480C-A5FC-8F00-9DE501B5C3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8027" y="3878404"/>
            <a:ext cx="3193516" cy="297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1315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DB29F-A2F0-D67F-501C-6EAA5E3A4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Analysis: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85CAE-D463-C190-D72D-0BEC6B611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Hierarchical Clustering</a:t>
            </a:r>
            <a:r>
              <a:rPr lang="en-US" dirty="0"/>
              <a:t> was the clear top performer for this dataset. It achieved the highest external metrics (ARI: </a:t>
            </a:r>
            <a:r>
              <a:rPr lang="en-US" b="1" dirty="0"/>
              <a:t>0.5133</a:t>
            </a:r>
            <a:r>
              <a:rPr lang="en-US" dirty="0"/>
              <a:t>, V-Measure: </a:t>
            </a:r>
            <a:r>
              <a:rPr lang="en-US" b="1" dirty="0"/>
              <a:t>0.6930</a:t>
            </a:r>
            <a:r>
              <a:rPr lang="en-US" dirty="0"/>
              <a:t>) and the best internal metrics (Silhouette: </a:t>
            </a:r>
            <a:r>
              <a:rPr lang="en-US" b="1" dirty="0"/>
              <a:t>0.1564</a:t>
            </a:r>
            <a:r>
              <a:rPr lang="en-US" dirty="0"/>
              <a:t>, DB: </a:t>
            </a:r>
            <a:r>
              <a:rPr lang="en-US" b="1" dirty="0"/>
              <a:t>1.7179</a:t>
            </a:r>
            <a:r>
              <a:rPr lang="en-US" dirty="0"/>
              <a:t>).</a:t>
            </a:r>
          </a:p>
          <a:p>
            <a:r>
              <a:rPr lang="en-US" dirty="0"/>
              <a:t>K-Means was a strong second (ARI: 0.4451), while GMM (ARI: 0.3719) struggled the most to match the ground truth.</a:t>
            </a:r>
          </a:p>
          <a:p>
            <a:r>
              <a:rPr lang="en-US" dirty="0"/>
              <a:t>The visual PCA (right) confirms this strong performance, showing a high alignment between the clusters and the Ground Truth (left).</a:t>
            </a:r>
          </a:p>
        </p:txBody>
      </p:sp>
    </p:spTree>
    <p:extLst>
      <p:ext uri="{BB962C8B-B14F-4D97-AF65-F5344CB8AC3E}">
        <p14:creationId xmlns:p14="http://schemas.microsoft.com/office/powerpoint/2010/main" val="3269184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343F8-0E78-BD31-E9C4-32665934C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039" y="-124989"/>
            <a:ext cx="11169604" cy="980184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Results: Brain cancer (GSE50161) — Metric Comparison</a:t>
            </a:r>
            <a:endParaRPr lang="en-IN" sz="4000" b="1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15A840D-E45A-7CC2-E526-5C9CDD762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781" y="742406"/>
            <a:ext cx="8378437" cy="2854961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7F21F70-7C19-EDB9-5051-4342850B5E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94" y="3597367"/>
            <a:ext cx="11571436" cy="320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937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8C8EB-E242-D9EE-1575-1F12B66E0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47" y="-21357"/>
            <a:ext cx="10515600" cy="828881"/>
          </a:xfrm>
        </p:spPr>
        <p:txBody>
          <a:bodyPr>
            <a:normAutofit/>
          </a:bodyPr>
          <a:lstStyle/>
          <a:p>
            <a:r>
              <a:rPr lang="en-IN" sz="4000" b="1" dirty="0"/>
              <a:t>Brain cancer (GSE50161) — Visual PCA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BBAA05F-F1AA-7607-4A49-EA2BDC9EB6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936" y="733987"/>
            <a:ext cx="3430371" cy="3122714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65EA70-B6C7-CE73-E1D8-DE809BAB24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3148" y="730608"/>
            <a:ext cx="3496691" cy="31745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E27356D-49E1-89FC-CB6E-A51D49FCE0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7680" y="859334"/>
            <a:ext cx="3496691" cy="301196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E6476DA-C4DC-9038-ACC0-D84C75E4B6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466" y="3908511"/>
            <a:ext cx="3383042" cy="28987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7CA1E99-E731-DB9E-5D2B-31606AD891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938964"/>
            <a:ext cx="3336736" cy="283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7266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7E3CE-8579-4090-97EC-A535483E5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Analysis: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0A2EC-C1FF-9212-F695-7AC85F574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was the most challenging dataset. All models had low external scores (ARI &lt; 0.21), indicating the ground truth subtypes are complex and highly overlapping.</a:t>
            </a:r>
          </a:p>
          <a:p>
            <a:r>
              <a:rPr lang="en-US" b="1" dirty="0"/>
              <a:t>Hierarchical Clustering</a:t>
            </a:r>
            <a:r>
              <a:rPr lang="en-US" dirty="0"/>
              <a:t> provided the best fit, winning on all metrics (ARI: </a:t>
            </a:r>
            <a:r>
              <a:rPr lang="en-US" b="1" dirty="0"/>
              <a:t>0.2007</a:t>
            </a:r>
            <a:r>
              <a:rPr lang="en-US" dirty="0"/>
              <a:t>, V-Measure: </a:t>
            </a:r>
            <a:r>
              <a:rPr lang="en-US" b="1" dirty="0"/>
              <a:t>0.3697</a:t>
            </a:r>
            <a:r>
              <a:rPr lang="en-US" dirty="0"/>
              <a:t>, Sil: </a:t>
            </a:r>
            <a:r>
              <a:rPr lang="en-US" b="1" dirty="0"/>
              <a:t>0.1287</a:t>
            </a:r>
            <a:r>
              <a:rPr lang="en-US" dirty="0"/>
              <a:t>).</a:t>
            </a:r>
          </a:p>
          <a:p>
            <a:r>
              <a:rPr lang="en-US" dirty="0"/>
              <a:t>Spectral (ARI: 0.1961) was a very close second. GMM (ARI: 0.1637, Sil: 0.0757) performed the worst, struggling with both cluster shape and separation.</a:t>
            </a:r>
          </a:p>
        </p:txBody>
      </p:sp>
    </p:spTree>
    <p:extLst>
      <p:ext uri="{BB962C8B-B14F-4D97-AF65-F5344CB8AC3E}">
        <p14:creationId xmlns:p14="http://schemas.microsoft.com/office/powerpoint/2010/main" val="2972815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2EDD4-377B-DAEB-BDF4-1E6D39DD2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38" y="-59206"/>
            <a:ext cx="9963561" cy="1151223"/>
          </a:xfrm>
        </p:spPr>
        <p:txBody>
          <a:bodyPr>
            <a:normAutofit/>
          </a:bodyPr>
          <a:lstStyle/>
          <a:p>
            <a:r>
              <a:rPr lang="en-IN" sz="4000" b="1" dirty="0"/>
              <a:t>Breast cancer (GSE45827) — Metric Comparison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36A7F2-35A2-461C-03A5-2ECD1E7DC1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767" y="3721459"/>
            <a:ext cx="11196466" cy="3136541"/>
          </a:xfrm>
          <a:prstGeom prst="rect">
            <a:avLst/>
          </a:prstGeo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77ACECD7-37D4-6A2A-EEAB-FB4D51B928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826" y="817560"/>
            <a:ext cx="8680770" cy="2903899"/>
          </a:xfrm>
        </p:spPr>
      </p:pic>
    </p:spTree>
    <p:extLst>
      <p:ext uri="{BB962C8B-B14F-4D97-AF65-F5344CB8AC3E}">
        <p14:creationId xmlns:p14="http://schemas.microsoft.com/office/powerpoint/2010/main" val="979278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8F362-AC0F-E9A0-979E-62003CDEA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72" y="0"/>
            <a:ext cx="10515600" cy="1049234"/>
          </a:xfrm>
        </p:spPr>
        <p:txBody>
          <a:bodyPr>
            <a:normAutofit/>
          </a:bodyPr>
          <a:lstStyle/>
          <a:p>
            <a:r>
              <a:rPr lang="en-US" sz="4000" b="1" dirty="0"/>
              <a:t>Analysis: Breast cancer (GSE45827) — Visual PCA</a:t>
            </a:r>
            <a:endParaRPr lang="en-IN" sz="40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9DD038-68FC-58DA-B6DC-28349A931A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03" y="937507"/>
            <a:ext cx="3298432" cy="287780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9A5CE9-0B0A-A9A0-FF18-9F411CD32B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079" y="878075"/>
            <a:ext cx="3386628" cy="29300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3C7CFF-E646-87D0-D248-74C41F04C4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4922" y="885266"/>
            <a:ext cx="3386628" cy="293723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577B88-3FE7-BFB2-9A66-580B55EF61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4686" y="3884552"/>
            <a:ext cx="3469023" cy="29734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68BD45-2F2C-4301-6680-0163A5E745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3859353"/>
            <a:ext cx="3469023" cy="299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1853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9A4C6-AAA1-4394-F7C2-2E9FDF33E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Analysis: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E613F-B99D-AB45-B430-3053B0866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to the other datasets, </a:t>
            </a:r>
            <a:r>
              <a:rPr lang="en-US" b="1" dirty="0"/>
              <a:t>Hierarchical Clustering</a:t>
            </a:r>
            <a:r>
              <a:rPr lang="en-US" dirty="0"/>
              <a:t> was the most effective model. It has achieved the highest external scores (ARI: </a:t>
            </a:r>
            <a:r>
              <a:rPr lang="en-US" b="1" dirty="0"/>
              <a:t>0.4445</a:t>
            </a:r>
            <a:r>
              <a:rPr lang="en-US" dirty="0"/>
              <a:t>, V-Measure: </a:t>
            </a:r>
            <a:r>
              <a:rPr lang="en-US" b="1" dirty="0"/>
              <a:t>0.6655</a:t>
            </a:r>
            <a:r>
              <a:rPr lang="en-US" dirty="0"/>
              <a:t>) and the best internal scores (Silhouette: </a:t>
            </a:r>
            <a:r>
              <a:rPr lang="en-US" b="1" dirty="0"/>
              <a:t>0.0788</a:t>
            </a:r>
            <a:r>
              <a:rPr lang="en-US" dirty="0"/>
              <a:t>, DB: </a:t>
            </a:r>
            <a:r>
              <a:rPr lang="en-US" b="1" dirty="0"/>
              <a:t>2.2707</a:t>
            </a:r>
            <a:r>
              <a:rPr lang="en-US" dirty="0"/>
              <a:t>).</a:t>
            </a:r>
          </a:p>
          <a:p>
            <a:r>
              <a:rPr lang="en-US" dirty="0"/>
              <a:t>K-Means (ARI: 0.4155) was a strong second, performing well on this data.</a:t>
            </a:r>
          </a:p>
          <a:p>
            <a:r>
              <a:rPr lang="en-US" dirty="0"/>
              <a:t>Spectral and GMM were less effective, with GMM showing the lowest performance across all 7 metrics (e.g., ARI: 0.3251).</a:t>
            </a:r>
          </a:p>
        </p:txBody>
      </p:sp>
    </p:spTree>
    <p:extLst>
      <p:ext uri="{BB962C8B-B14F-4D97-AF65-F5344CB8AC3E}">
        <p14:creationId xmlns:p14="http://schemas.microsoft.com/office/powerpoint/2010/main" val="37717071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264B4-BE5A-8491-D20B-F4055C5D3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145"/>
            <a:ext cx="10515600" cy="1325563"/>
          </a:xfrm>
        </p:spPr>
        <p:txBody>
          <a:bodyPr/>
          <a:lstStyle/>
          <a:p>
            <a:r>
              <a:rPr lang="en-IN" b="1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8DC0E-7C73-620D-612C-1DC485CA4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5418"/>
            <a:ext cx="10515600" cy="5295627"/>
          </a:xfrm>
        </p:spPr>
        <p:txBody>
          <a:bodyPr>
            <a:normAutofit/>
          </a:bodyPr>
          <a:lstStyle/>
          <a:p>
            <a:r>
              <a:rPr lang="en-US" sz="2000" b="1" dirty="0"/>
              <a:t>Model Performance:</a:t>
            </a:r>
            <a:r>
              <a:rPr lang="en-US" sz="2000" dirty="0"/>
              <a:t> </a:t>
            </a:r>
            <a:r>
              <a:rPr lang="en-US" sz="2000" b="1" dirty="0"/>
              <a:t>Hierarchical Clustering</a:t>
            </a:r>
            <a:r>
              <a:rPr lang="en-US" sz="2000" dirty="0"/>
              <a:t> was the clear and consistent top performer. It achieved the highest external validation scores (ARI, V-Measure) and the best internal scores (Silhouette, Davies-Bouldin) across </a:t>
            </a:r>
            <a:r>
              <a:rPr lang="en-US" sz="2000" b="1" dirty="0"/>
              <a:t>all three datasets</a:t>
            </a:r>
            <a:r>
              <a:rPr lang="en-US" sz="2000" dirty="0"/>
              <a:t> (Leukemia, Brain, and Breast).</a:t>
            </a:r>
          </a:p>
          <a:p>
            <a:r>
              <a:rPr lang="en-US" sz="2000" b="1" dirty="0"/>
              <a:t>Baseline Comparison:</a:t>
            </a:r>
            <a:r>
              <a:rPr lang="en-US" sz="2000" dirty="0"/>
              <a:t> K-Means was a solid baseline, consistently performing as the second-best model. GMM, despite its flexibility, generally performed the worst, suggesting its probabilistic model was not a good fit for this PCA-transformed data.</a:t>
            </a:r>
          </a:p>
          <a:p>
            <a:r>
              <a:rPr lang="en-US" sz="2000" b="1" dirty="0"/>
              <a:t>Pipeline Success:</a:t>
            </a:r>
            <a:r>
              <a:rPr lang="en-US" sz="2000" dirty="0"/>
              <a:t> The </a:t>
            </a:r>
            <a:r>
              <a:rPr lang="en-US" sz="2000" dirty="0" err="1"/>
              <a:t>StandardScaler</a:t>
            </a:r>
            <a:r>
              <a:rPr lang="en-US" sz="2000" dirty="0"/>
              <a:t> + PCA(0.90) pipeline proved to be an essential and effective strategy for normalizing the data and reducing high-dimensional noise before clustering.</a:t>
            </a:r>
          </a:p>
          <a:p>
            <a:r>
              <a:rPr lang="en-US" sz="2000" b="1" dirty="0"/>
              <a:t>Clinical Relevance:</a:t>
            </a:r>
            <a:r>
              <a:rPr lang="en-US" sz="2000" dirty="0"/>
              <a:t> The strong external metric scores (e.g., ARI of </a:t>
            </a:r>
            <a:r>
              <a:rPr lang="en-US" sz="2000" b="1" dirty="0"/>
              <a:t>0.5133</a:t>
            </a:r>
            <a:r>
              <a:rPr lang="en-US" sz="2000" dirty="0"/>
              <a:t> for Leukemia, </a:t>
            </a:r>
            <a:r>
              <a:rPr lang="en-US" sz="2000" b="1" dirty="0"/>
              <a:t>0.4445</a:t>
            </a:r>
            <a:r>
              <a:rPr lang="en-US" sz="2000" dirty="0"/>
              <a:t> for Breast) confirm a significant correlation between our </a:t>
            </a:r>
            <a:r>
              <a:rPr lang="en-US" sz="2000" i="1" dirty="0"/>
              <a:t>unsupervised</a:t>
            </a:r>
            <a:r>
              <a:rPr lang="en-US" sz="2000" dirty="0"/>
              <a:t> clusters and the </a:t>
            </a:r>
            <a:r>
              <a:rPr lang="en-US" sz="2000" i="1" dirty="0"/>
              <a:t>known</a:t>
            </a:r>
            <a:r>
              <a:rPr lang="en-US" sz="2000" dirty="0"/>
              <a:t> clinical 'type' labels. This validates that the data-driven approach can successfully identify clinically meaningful biological subtypes.</a:t>
            </a:r>
          </a:p>
        </p:txBody>
      </p:sp>
    </p:spTree>
    <p:extLst>
      <p:ext uri="{BB962C8B-B14F-4D97-AF65-F5344CB8AC3E}">
        <p14:creationId xmlns:p14="http://schemas.microsoft.com/office/powerpoint/2010/main" val="22156108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BF25B-4493-7634-6EAF-D04104239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738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/>
              <a:t>Future Directions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0536F-39A8-140F-9AA8-99A38DFBB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301"/>
            <a:ext cx="10515600" cy="4868028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Multi-Omics Integration:</a:t>
            </a:r>
            <a:endParaRPr lang="en-IN" dirty="0"/>
          </a:p>
          <a:p>
            <a:pPr lvl="1"/>
            <a:r>
              <a:rPr lang="en-IN" dirty="0"/>
              <a:t>Apply this 4-model pipeline to larger TCGA datasets.</a:t>
            </a:r>
          </a:p>
          <a:p>
            <a:pPr lvl="1"/>
            <a:r>
              <a:rPr lang="en-IN" dirty="0"/>
              <a:t>Integrate gene expression (RNA-</a:t>
            </a:r>
            <a:r>
              <a:rPr lang="en-IN" dirty="0" err="1"/>
              <a:t>seq</a:t>
            </a:r>
            <a:r>
              <a:rPr lang="en-IN" dirty="0"/>
              <a:t>) with DNA methylation and copy number data using </a:t>
            </a:r>
            <a:r>
              <a:rPr lang="en-IN" b="1" dirty="0"/>
              <a:t>Similarity Network Fusion (SNF)</a:t>
            </a:r>
            <a:r>
              <a:rPr lang="en-IN" dirty="0"/>
              <a:t> to find more robust, biologically-driven subtypes.</a:t>
            </a:r>
          </a:p>
          <a:p>
            <a:r>
              <a:rPr lang="en-IN" b="1" dirty="0"/>
              <a:t>Deep Learning Models:</a:t>
            </a:r>
            <a:endParaRPr lang="en-IN" dirty="0"/>
          </a:p>
          <a:p>
            <a:pPr lvl="1"/>
            <a:r>
              <a:rPr lang="en-IN" dirty="0"/>
              <a:t>Implement and benchmark a </a:t>
            </a:r>
            <a:r>
              <a:rPr lang="en-IN" b="1" dirty="0"/>
              <a:t>Deep Embedding Clustering (DEC)</a:t>
            </a:r>
            <a:r>
              <a:rPr lang="en-IN" dirty="0"/>
              <a:t> model.</a:t>
            </a:r>
          </a:p>
          <a:p>
            <a:pPr lvl="1"/>
            <a:r>
              <a:rPr lang="en-IN" dirty="0"/>
              <a:t>Use a Variational Autoencoder (VAE) to capture complex, non-linear patterns missed by traditional PCA.</a:t>
            </a:r>
          </a:p>
          <a:p>
            <a:r>
              <a:rPr lang="en-IN" b="1" dirty="0"/>
              <a:t>Single-Cell &amp; Spatial Analysis:</a:t>
            </a:r>
            <a:endParaRPr lang="en-IN" dirty="0"/>
          </a:p>
          <a:p>
            <a:pPr lvl="1"/>
            <a:r>
              <a:rPr lang="en-IN" dirty="0"/>
              <a:t>Adapt these methods for </a:t>
            </a:r>
            <a:r>
              <a:rPr lang="en-IN" dirty="0" err="1"/>
              <a:t>scRNA-seq</a:t>
            </a:r>
            <a:r>
              <a:rPr lang="en-IN" dirty="0"/>
              <a:t> and Spatial Transcriptomics data.</a:t>
            </a:r>
          </a:p>
          <a:p>
            <a:pPr lvl="1"/>
            <a:r>
              <a:rPr lang="en-IN" dirty="0"/>
              <a:t>Shift the goal from clustering </a:t>
            </a:r>
            <a:r>
              <a:rPr lang="en-IN" i="1" dirty="0"/>
              <a:t>patients</a:t>
            </a:r>
            <a:r>
              <a:rPr lang="en-IN" dirty="0"/>
              <a:t> to discovering </a:t>
            </a:r>
            <a:r>
              <a:rPr lang="en-IN" i="1" dirty="0"/>
              <a:t>cellular</a:t>
            </a:r>
            <a:r>
              <a:rPr lang="en-IN" dirty="0"/>
              <a:t> subtypes and their organization within the tissue.</a:t>
            </a:r>
          </a:p>
        </p:txBody>
      </p:sp>
    </p:spTree>
    <p:extLst>
      <p:ext uri="{BB962C8B-B14F-4D97-AF65-F5344CB8AC3E}">
        <p14:creationId xmlns:p14="http://schemas.microsoft.com/office/powerpoint/2010/main" val="33847278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1A74-4DFB-C32C-EB43-A953A726F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References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1F0C7-DAE5-A295-2C4E-0995BDAF2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0144"/>
            <a:ext cx="10515600" cy="4696819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[1] T. R. Golub </a:t>
            </a:r>
            <a:r>
              <a:rPr lang="en-IN" i="1" dirty="0"/>
              <a:t>et al.</a:t>
            </a:r>
            <a:r>
              <a:rPr lang="en-IN" dirty="0"/>
              <a:t>, "Molecular classification of cancer: class discovery and class prediction by gene expression monitoring," </a:t>
            </a:r>
            <a:r>
              <a:rPr lang="en-IN" i="1" dirty="0"/>
              <a:t>Science</a:t>
            </a:r>
            <a:r>
              <a:rPr lang="en-IN" dirty="0"/>
              <a:t>, vol. 286, no. 5439, pp. 531–537, Oct. 1999. [Online]. Available: [</a:t>
            </a:r>
            <a:r>
              <a:rPr lang="en-IN" dirty="0">
                <a:hlinkClick r:id="rId2"/>
              </a:rPr>
              <a:t>https://www.science.org/doi/10.1126/science.286.5439.531</a:t>
            </a:r>
            <a:r>
              <a:rPr lang="en-IN" dirty="0"/>
              <a:t>]</a:t>
            </a:r>
          </a:p>
          <a:p>
            <a:r>
              <a:rPr lang="en-IN" dirty="0"/>
              <a:t>[2] C. M. Perou </a:t>
            </a:r>
            <a:r>
              <a:rPr lang="en-IN" i="1" dirty="0"/>
              <a:t>et al.</a:t>
            </a:r>
            <a:r>
              <a:rPr lang="en-IN" dirty="0"/>
              <a:t>, "Molecular portraits of human breast tumours," </a:t>
            </a:r>
            <a:r>
              <a:rPr lang="en-IN" i="1" dirty="0"/>
              <a:t>Nature</a:t>
            </a:r>
            <a:r>
              <a:rPr lang="en-IN" dirty="0"/>
              <a:t>, vol. 406, no. 6797, pp. 747–752, Aug. 2000. [Online]. Available: [</a:t>
            </a:r>
            <a:r>
              <a:rPr lang="en-IN" dirty="0">
                <a:hlinkClick r:id="rId3"/>
              </a:rPr>
              <a:t>https://www.nature.com/articles/35021093</a:t>
            </a:r>
            <a:r>
              <a:rPr lang="en-IN" dirty="0"/>
              <a:t>]</a:t>
            </a:r>
          </a:p>
          <a:p>
            <a:r>
              <a:rPr lang="en-IN" dirty="0"/>
              <a:t>[3] J. A. Meira </a:t>
            </a:r>
            <a:r>
              <a:rPr lang="en-IN" i="1" dirty="0"/>
              <a:t>et al.</a:t>
            </a:r>
            <a:r>
              <a:rPr lang="en-IN" dirty="0"/>
              <a:t>, "A clinical, pathological and molecular analysis of breast cancer in a case-series from Northeast Brazil," </a:t>
            </a:r>
            <a:r>
              <a:rPr lang="en-IN" i="1" dirty="0"/>
              <a:t>GEO Accession GSE45827</a:t>
            </a:r>
            <a:r>
              <a:rPr lang="en-IN" dirty="0"/>
              <a:t>, 2013. [Online]. Available: [</a:t>
            </a:r>
            <a:r>
              <a:rPr lang="en-IN" dirty="0">
                <a:hlinkClick r:id="rId4"/>
              </a:rPr>
              <a:t>https://www.ncbi.nlm.nih.gov/geo/query/acc.cgi?acc=GSE45827</a:t>
            </a:r>
            <a:r>
              <a:rPr lang="en-IN" dirty="0"/>
              <a:t>]</a:t>
            </a:r>
          </a:p>
          <a:p>
            <a:r>
              <a:rPr lang="en-IN" dirty="0"/>
              <a:t>[4] J. G. G. J. M. Kros </a:t>
            </a:r>
            <a:r>
              <a:rPr lang="en-IN" i="1" dirty="0"/>
              <a:t>et al.</a:t>
            </a:r>
            <a:r>
              <a:rPr lang="en-IN" dirty="0"/>
              <a:t>, "Gene expression profiling to identify distinct subclasses of oligodendroglioma," </a:t>
            </a:r>
            <a:r>
              <a:rPr lang="en-IN" i="1" dirty="0"/>
              <a:t>GEO Accession GSE50161</a:t>
            </a:r>
            <a:r>
              <a:rPr lang="en-IN" dirty="0"/>
              <a:t>, 2014. [Online]. Available: [</a:t>
            </a:r>
            <a:r>
              <a:rPr lang="en-IN" dirty="0">
                <a:hlinkClick r:id="rId5"/>
              </a:rPr>
              <a:t>https://www.ncbi.nlm.nih.gov/geo/query/acc.cgi?acc=GSE50161</a:t>
            </a:r>
            <a:r>
              <a:rPr lang="en-IN" dirty="0"/>
              <a:t>]</a:t>
            </a:r>
          </a:p>
          <a:p>
            <a:r>
              <a:rPr lang="en-IN" dirty="0"/>
              <a:t>[5] G. </a:t>
            </a:r>
            <a:r>
              <a:rPr lang="en-IN" dirty="0" err="1"/>
              <a:t>Haferlach</a:t>
            </a:r>
            <a:r>
              <a:rPr lang="en-IN" dirty="0"/>
              <a:t> </a:t>
            </a:r>
            <a:r>
              <a:rPr lang="en-IN" i="1" dirty="0"/>
              <a:t>et al.</a:t>
            </a:r>
            <a:r>
              <a:rPr lang="en-IN" dirty="0"/>
              <a:t>, "Gene expression profiling of acute myeloid </a:t>
            </a:r>
            <a:r>
              <a:rPr lang="en-IN" dirty="0" err="1"/>
              <a:t>leukemia</a:t>
            </a:r>
            <a:r>
              <a:rPr lang="en-IN" dirty="0"/>
              <a:t>," </a:t>
            </a:r>
            <a:r>
              <a:rPr lang="en-IN" i="1" dirty="0"/>
              <a:t>GEO Accession GSE9476</a:t>
            </a:r>
            <a:r>
              <a:rPr lang="en-IN" dirty="0"/>
              <a:t>, 2007. [Online]. Available: [</a:t>
            </a:r>
            <a:r>
              <a:rPr lang="en-IN" dirty="0">
                <a:hlinkClick r:id="rId6"/>
              </a:rPr>
              <a:t>https://www.ncbi.nlm.nih.gov/geo/query/acc.cgi?acc=GSE9476</a:t>
            </a:r>
            <a:r>
              <a:rPr lang="en-IN" dirty="0"/>
              <a:t>]</a:t>
            </a:r>
          </a:p>
          <a:p>
            <a:r>
              <a:rPr lang="en-IN" dirty="0"/>
              <a:t>[6] F. Pedregosa </a:t>
            </a:r>
            <a:r>
              <a:rPr lang="en-IN" i="1" dirty="0"/>
              <a:t>et al.</a:t>
            </a:r>
            <a:r>
              <a:rPr lang="en-IN" dirty="0"/>
              <a:t>, "Scikit-learn: Machine Learning in Python," </a:t>
            </a:r>
            <a:r>
              <a:rPr lang="en-IN" i="1" dirty="0"/>
              <a:t>Journal of Machine Learning Research</a:t>
            </a:r>
            <a:r>
              <a:rPr lang="en-IN" dirty="0"/>
              <a:t>, vol. 12, pp. 2825-2830, 2011. [Online]. Available: [</a:t>
            </a:r>
            <a:r>
              <a:rPr lang="en-IN" dirty="0">
                <a:hlinkClick r:id="rId7"/>
              </a:rPr>
              <a:t>http://jmlr.org/papers/v12/pedregosa11a.html</a:t>
            </a:r>
            <a:r>
              <a:rPr lang="en-IN" dirty="0"/>
              <a:t>]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77445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3EAF0-A2FC-E6E2-81B0-B0ECD88C58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1304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2184</Words>
  <Application>Microsoft Office PowerPoint</Application>
  <PresentationFormat>Widescreen</PresentationFormat>
  <Paragraphs>200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Google Sans Text</vt:lpstr>
      <vt:lpstr>Arial</vt:lpstr>
      <vt:lpstr>Calibri</vt:lpstr>
      <vt:lpstr>Calibri Light</vt:lpstr>
      <vt:lpstr>Poppins Bold</vt:lpstr>
      <vt:lpstr>Office Theme</vt:lpstr>
      <vt:lpstr>Presented by: Krishna Singh(22DCS011) Presented to: Dr. Kamlesh Dutta</vt:lpstr>
      <vt:lpstr>Table of Contents</vt:lpstr>
      <vt:lpstr> The Problem  </vt:lpstr>
      <vt:lpstr>Objective </vt:lpstr>
      <vt:lpstr>Literature Review: Foundational papers</vt:lpstr>
      <vt:lpstr>Literature Review: Recent </vt:lpstr>
      <vt:lpstr>Project Work Flow</vt:lpstr>
      <vt:lpstr>Hardware &amp; Software Requirements</vt:lpstr>
      <vt:lpstr>Datasets Used</vt:lpstr>
      <vt:lpstr>Data Preprocessing: Step 1 - Feature-Label Split</vt:lpstr>
      <vt:lpstr>Data Preprocessing: Step 2 - Standardization </vt:lpstr>
      <vt:lpstr>Dimensionality Reduction: For Clustering</vt:lpstr>
      <vt:lpstr>Dimensionality Reduction: For Visualization </vt:lpstr>
      <vt:lpstr>Clustering Algorithms Used </vt:lpstr>
      <vt:lpstr>Evaluation Metrics: External (Supervised)</vt:lpstr>
      <vt:lpstr>Evaluation Metrics: Internal (Unsupervised)</vt:lpstr>
      <vt:lpstr>Results: Leukemia (GSE9476) — Metric Comparison</vt:lpstr>
      <vt:lpstr>Analysis: Leukemia (GSE9476) — Visual PCA</vt:lpstr>
      <vt:lpstr>Analysis:</vt:lpstr>
      <vt:lpstr>Results: Brain cancer (GSE50161) — Metric Comparison</vt:lpstr>
      <vt:lpstr>Brain cancer (GSE50161) — Visual PCA</vt:lpstr>
      <vt:lpstr>Analysis:</vt:lpstr>
      <vt:lpstr>Breast cancer (GSE45827) — Metric Comparison</vt:lpstr>
      <vt:lpstr>Analysis: Breast cancer (GSE45827) — Visual PCA</vt:lpstr>
      <vt:lpstr>Analysis:</vt:lpstr>
      <vt:lpstr>Conclusions</vt:lpstr>
      <vt:lpstr>Future Directions</vt:lpstr>
      <vt:lpstr>References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 singh</dc:creator>
  <cp:lastModifiedBy>krishna singh</cp:lastModifiedBy>
  <cp:revision>4</cp:revision>
  <dcterms:created xsi:type="dcterms:W3CDTF">2025-11-06T17:50:28Z</dcterms:created>
  <dcterms:modified xsi:type="dcterms:W3CDTF">2025-11-07T09:38:19Z</dcterms:modified>
</cp:coreProperties>
</file>